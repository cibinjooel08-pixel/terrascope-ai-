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0D162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313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MISSION CONTROL // EARTH OBSERVATION INTELLIGENCE PLATFORM</a:t>
            </a:r>
          </a:p>
          <a:p>
            <a:pPr>
              <a:spcBef>
                <a:spcPts val="800"/>
              </a:spcBef>
              <a:defRPr sz="4400" b="1">
                <a:solidFill>
                  <a:srgbClr val="FFFFFF"/>
                </a:solidFill>
                <a:latin typeface="Arial"/>
              </a:defRPr>
            </a:pPr>
            <a:r>
              <a:t>TERRASCOPE AI</a:t>
            </a:r>
          </a:p>
          <a:p>
            <a:pPr>
              <a:spcBef>
                <a:spcPts val="800"/>
              </a:spcBef>
              <a:defRPr sz="1500">
                <a:solidFill>
                  <a:srgbClr val="10B981"/>
                </a:solidFill>
                <a:latin typeface="Arial"/>
              </a:defRPr>
            </a:pPr>
            <a:r>
              <a:t>Autonomous Satellite Telemetry, Multi-Constellation STAC Ingestion &amp; Computer Vision Analytics</a:t>
            </a:r>
          </a:p>
          <a:p>
            <a:pPr>
              <a:spcBef>
                <a:spcPts val="800"/>
              </a:spcBef>
              <a:defRPr>
                <a:solidFill>
                  <a:srgbClr val="1E324B"/>
                </a:solidFill>
              </a:defRPr>
            </a:pPr>
            <a:r>
              <a:t>————————————————————————————————————————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Real-Time Copernicus CDSE STAC Ingestion (Sentinel-1 SAR Radar &amp; Sentinel-2 MSI Optical)</a:t>
            </a:r>
            <a:br/>
            <a:r>
              <a:t>• Autonomous Natural Language Query Router &amp; Scientific Algorithm Specialist Pipeline</a:t>
            </a:r>
            <a:br/>
            <a:r>
              <a:t>• 1024x1024 High-Definition Output with Spatial UnsharpMask &amp; Automated PDF Dossiers</a:t>
            </a:r>
            <a:br/>
            <a:r>
              <a:t>• Production Cloud Infrastructure Deployed on Vercel (Frontend) and Render (Backend)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01 // MOTIVATION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CHALLENGE IN SATELLITE EARTH OBSERVATION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Why current satellite remote sensing systems are inaccessible for rapid decision-making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Arial"/>
              </a:defRPr>
            </a:pPr>
            <a:r>
              <a:t>⚠️ Massive Complexity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43F5E"/>
                </a:solidFill>
              </a:rPr>
              <a:t>• Data Silos: </a:t>
            </a:r>
            <a:r>
              <a:rPr>
                <a:solidFill>
                  <a:srgbClr val="94A3B8"/>
                </a:solidFill>
              </a:rPr>
              <a:t>Petabytes of raw Sentinel, Landsat, and radar scenes scattered across disparate space agency archives.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43F5E"/>
                </a:solidFill>
              </a:rPr>
              <a:t>• Heavy GIS Tools: </a:t>
            </a:r>
            <a:r>
              <a:rPr>
                <a:solidFill>
                  <a:srgbClr val="94A3B8"/>
                </a:solidFill>
              </a:rPr>
              <a:t>Requires complex desktop software (QGIS, ArcGIS, SNAP) with steep learning curves and manual setups.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43F5E"/>
                </a:solidFill>
              </a:rPr>
              <a:t>• Expert Bottleneck: </a:t>
            </a:r>
            <a:r>
              <a:rPr>
                <a:solidFill>
                  <a:srgbClr val="94A3B8"/>
                </a:solidFill>
              </a:rPr>
              <a:t>Only specialized GIS scientists can calibrate bands, project coordinates, and filter clouds.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74520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⏱️ Delayed Emergency Action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• Disaster Windows: </a:t>
            </a:r>
            <a:r>
              <a:rPr>
                <a:solidFill>
                  <a:srgbClr val="94A3B8"/>
                </a:solidFill>
              </a:rPr>
              <a:t>Flash floods, landslides, and forest fires require instant evidence within minutes, not days.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• Manual Preprocessing: </a:t>
            </a:r>
            <a:r>
              <a:rPr>
                <a:solidFill>
                  <a:srgbClr val="94A3B8"/>
                </a:solidFill>
              </a:rPr>
              <a:t>Radiometric calibration, cloud masking, and orthorectification take hours per pass.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• Cloud Cover Blindness: </a:t>
            </a:r>
            <a:r>
              <a:rPr>
                <a:solidFill>
                  <a:srgbClr val="94A3B8"/>
                </a:solidFill>
              </a:rPr>
              <a:t>Optical satellites cannot see through monsoon cloud cover without active SAR radar.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874520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💡 The Solution: TerraScope AI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Natural Language Query: </a:t>
            </a:r>
            <a:r>
              <a:rPr>
                <a:solidFill>
                  <a:srgbClr val="94A3B8"/>
                </a:solidFill>
              </a:rPr>
              <a:t>Simply type questions like 'Did this area flood after heavy rain? Show expansion.'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Automated Data Pipeline: </a:t>
            </a:r>
            <a:r>
              <a:rPr>
                <a:solidFill>
                  <a:srgbClr val="94A3B8"/>
                </a:solidFill>
              </a:rPr>
              <a:t>Copernicus STAC catalog searches, retrieves, and processes tiles automatically.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Instant Scientific Proof: </a:t>
            </a:r>
            <a:r>
              <a:rPr>
                <a:solidFill>
                  <a:srgbClr val="94A3B8"/>
                </a:solidFill>
              </a:rPr>
              <a:t>Delivers quantitative change matrices, split-sliders, and PDF intelligence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02 // ENGINEERING ARCHITECTURE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FULL-STACK SYSTEM ARCHITECTURE &amp; PIPELINE FLOW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From user natural language input to multi-sensor space data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50592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199339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🖥️ 1. Frontend UI/UX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Aerospace Flight Deck: </a:t>
            </a:r>
            <a:r>
              <a:rPr>
                <a:solidFill>
                  <a:srgbClr val="94A3B8"/>
                </a:solidFill>
              </a:rPr>
              <a:t>SpaceX/NASA inspired HUD theme with dark void canvas (#03070D).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Interactive Leaflet Map: </a:t>
            </a:r>
            <a:r>
              <a:rPr>
                <a:solidFill>
                  <a:srgbClr val="94A3B8"/>
                </a:solidFill>
              </a:rPr>
              <a:t>Real-time BBOX selection, coordinate HUD, EPSG:4326 targeting.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Mission Panels: </a:t>
            </a:r>
            <a:r>
              <a:rPr>
                <a:solidFill>
                  <a:srgbClr val="94A3B8"/>
                </a:solidFill>
              </a:rPr>
              <a:t>Bi-temporal date selection, constellation selector, quick triggers.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Evidence Viewer: </a:t>
            </a:r>
            <a:r>
              <a:rPr>
                <a:solidFill>
                  <a:srgbClr val="94A3B8"/>
                </a:solidFill>
              </a:rPr>
              <a:t>Side-by-side view, interactive split-slider, confidence badges.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450592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1874520"/>
            <a:ext cx="199339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Arial"/>
              </a:defRPr>
            </a:pPr>
            <a:r>
              <a:t>🧠 2. Query Agent &amp; Router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Intent Parsing: </a:t>
            </a:r>
            <a:r>
              <a:rPr>
                <a:solidFill>
                  <a:srgbClr val="94A3B8"/>
                </a:solidFill>
              </a:rPr>
              <a:t>Extracts disaster type, geographic intent, and temporal requirements.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Sensor Routing: </a:t>
            </a:r>
            <a:r>
              <a:rPr>
                <a:solidFill>
                  <a:srgbClr val="94A3B8"/>
                </a:solidFill>
              </a:rPr>
              <a:t>Autonomously routes to Sentinel-1 (Radar) or Sentinel-2 (Optical).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Date Validation: </a:t>
            </a:r>
            <a:r>
              <a:rPr>
                <a:solidFill>
                  <a:srgbClr val="94A3B8"/>
                </a:solidFill>
              </a:rPr>
              <a:t>Strict 2016–2026 archive validation with instant red warnings.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STAC Discovery: </a:t>
            </a:r>
            <a:r>
              <a:rPr>
                <a:solidFill>
                  <a:srgbClr val="94A3B8"/>
                </a:solidFill>
              </a:rPr>
              <a:t>Queries Copernicus Catalog API for actual acquisition orbits.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450592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874520"/>
            <a:ext cx="199339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🛰️ 3. Satellite Ingestion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Copernicus CDSE: </a:t>
            </a:r>
            <a:r>
              <a:rPr>
                <a:solidFill>
                  <a:srgbClr val="94A3B8"/>
                </a:solidFill>
              </a:rPr>
              <a:t>Live OAuth2 tokens from European Space Agency data portal.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Process API: </a:t>
            </a:r>
            <a:r>
              <a:rPr>
                <a:solidFill>
                  <a:srgbClr val="94A3B8"/>
                </a:solidFill>
              </a:rPr>
              <a:t>Custom Evalscripts for true-color, MNDWI, and SAR backscatter.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High-Res Rendering: </a:t>
            </a:r>
            <a:r>
              <a:rPr>
                <a:solidFill>
                  <a:srgbClr val="94A3B8"/>
                </a:solidFill>
              </a:rPr>
              <a:t>1024x1024 resolution with UnsharpMask spatial clarity.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Safe Fallback: </a:t>
            </a:r>
            <a:r>
              <a:rPr>
                <a:solidFill>
                  <a:srgbClr val="94A3B8"/>
                </a:solidFill>
              </a:rPr>
              <a:t>Offline simulation fallback ensures 100% system uptime.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450592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4856" y="1874520"/>
            <a:ext cx="199339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📊 4. Analytics &amp; Report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• Change Detection: </a:t>
            </a:r>
            <a:r>
              <a:rPr>
                <a:solidFill>
                  <a:srgbClr val="94A3B8"/>
                </a:solidFill>
              </a:rPr>
              <a:t>Bi-temporal difference, thresholding, and contour extraction.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• Quantitative Metrics: </a:t>
            </a:r>
            <a:r>
              <a:rPr>
                <a:solidFill>
                  <a:srgbClr val="94A3B8"/>
                </a:solidFill>
              </a:rPr>
              <a:t>Calculates % area expanded/receded and confidence scores.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• Database History: </a:t>
            </a:r>
            <a:r>
              <a:rPr>
                <a:solidFill>
                  <a:srgbClr val="94A3B8"/>
                </a:solidFill>
              </a:rPr>
              <a:t>Stores full mission logs, JSON payloads, and image buffers.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• ReportLab PDF: </a:t>
            </a:r>
            <a:r>
              <a:rPr>
                <a:solidFill>
                  <a:srgbClr val="94A3B8"/>
                </a:solidFill>
              </a:rPr>
              <a:t>Generates official multi-page intelligence briefings on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03 // SCIENTIFIC ALGORITHMS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CONSTELLATION CAPABILITIES &amp; SPECTRAL INDICES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Rigorous mathematical formulations applied directly to orbital multispectral and radar bands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1830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🌍 Sentinel-2 MSI (Optical Multispectral)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Resolution &amp; Bands: </a:t>
            </a:r>
            <a:r>
              <a:rPr>
                <a:solidFill>
                  <a:srgbClr val="94A3B8"/>
                </a:solidFill>
              </a:rPr>
              <a:t>10m to 20m spatial resolution across 13 spectral bands (RGB, NIR, RedEdge, SWIR).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MNDWI (Water / Floods): </a:t>
            </a:r>
            <a:r>
              <a:rPr>
                <a:solidFill>
                  <a:srgbClr val="94A3B8"/>
                </a:solidFill>
              </a:rPr>
              <a:t>Modified Normalized Difference Water Index:
MNDWI = (Green - SWIR) / (Green + SWIR)
Suppresses built-up land noise to highlight flood boundaries.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NDVI (Canopy &amp; Crops): </a:t>
            </a:r>
            <a:r>
              <a:rPr>
                <a:solidFill>
                  <a:srgbClr val="94A3B8"/>
                </a:solidFill>
              </a:rPr>
              <a:t>Normalized Difference Vegetation Index:
NDVI = (NIR - Red) / (NIR + Red)
Measures photosynthetic vigor, deforestation, and drought.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NDBI (Urban Built-up): </a:t>
            </a:r>
            <a:r>
              <a:rPr>
                <a:solidFill>
                  <a:srgbClr val="94A3B8"/>
                </a:solidFill>
              </a:rPr>
              <a:t>Normalized Difference Built-up Index:
NDBI = (SWIR - NIR) / (SWIR + NIR)
Tracks city sprawl, asphalt density, and concrete spread.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874520"/>
            <a:ext cx="471830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Arial"/>
              </a:defRPr>
            </a:pPr>
            <a:r>
              <a:t>📡 Sentinel-1 C-SAR (Synthetic Aperture Radar)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All-Weather Radar: </a:t>
            </a:r>
            <a:r>
              <a:rPr>
                <a:solidFill>
                  <a:srgbClr val="94A3B8"/>
                </a:solidFill>
              </a:rPr>
              <a:t>Active C-Band microwave radar (5.405 GHz) that penetrates heavy clouds, storm rain, and darkness.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Dual-Polarization: </a:t>
            </a:r>
            <a:r>
              <a:rPr>
                <a:solidFill>
                  <a:srgbClr val="94A3B8"/>
                </a:solidFill>
              </a:rPr>
              <a:t>VV (Vertical transmit/receive) and VH (Cross-polarization) channels for structural backscatter analysis.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SAR Backscatter Difference: </a:t>
            </a:r>
            <a:r>
              <a:rPr>
                <a:solidFill>
                  <a:srgbClr val="94A3B8"/>
                </a:solidFill>
              </a:rPr>
              <a:t>Log-ratio difference: Δσ° = 10 * log10(σ°_T2 / σ°_T1)
Identifies standing water (specular reflection) as dark areas.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Terrain Displacement: </a:t>
            </a:r>
            <a:r>
              <a:rPr>
                <a:solidFill>
                  <a:srgbClr val="94A3B8"/>
                </a:solidFill>
              </a:rPr>
              <a:t>Detects structural displacement, landslides, and embankment collapses regardless of monsoonal overcast.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04 // PLATFORM CAPABILITIES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KEY INNOVATIONS BUILT INTO TERRASCOPE AI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Engineered for speed, scientific precision, and mission-critical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214884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🛰️ Copernicus STAC Ingestion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Live Satellite Orbits: </a:t>
            </a:r>
            <a:r>
              <a:rPr>
                <a:solidFill>
                  <a:srgbClr val="94A3B8"/>
                </a:solidFill>
              </a:rPr>
              <a:t>Fetches actual satellite pass dates and cloud-free tile acquisitions directly from ESA CDSE.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214884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74520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Arial"/>
              </a:defRPr>
            </a:pPr>
            <a:r>
              <a:t>🛡️ Temporal Validation (2016+)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43F5E"/>
                </a:solidFill>
              </a:rPr>
              <a:t>• Constellation Lifespan: </a:t>
            </a:r>
            <a:r>
              <a:rPr>
                <a:solidFill>
                  <a:srgbClr val="94A3B8"/>
                </a:solidFill>
              </a:rPr>
              <a:t>Strict boundary enforcement for 2016–2026 with real-time inline red warnings.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214884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874520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🔍 1024x1024 High Clarity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Clarity Engine: </a:t>
            </a:r>
            <a:r>
              <a:rPr>
                <a:solidFill>
                  <a:srgbClr val="94A3B8"/>
                </a:solidFill>
              </a:rPr>
              <a:t>400% higher pixel density, UnsharpMask edge filter, vibrance and contrast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3328416" cy="214884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39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Arial"/>
              </a:defRPr>
            </a:pPr>
            <a:r>
              <a:t>🎛️ Interactive Evidence Viewer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Side-by-Side &amp; Split Slider: </a:t>
            </a:r>
            <a:r>
              <a:rPr>
                <a:solidFill>
                  <a:srgbClr val="94A3B8"/>
                </a:solidFill>
              </a:rPr>
              <a:t>Before/After satellite pass slider with synchronized zoom and anomaly bounding.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3977639"/>
            <a:ext cx="3328416" cy="214884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4206239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📄 One-Click PDF Briefing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• Automated Dossier: </a:t>
            </a:r>
            <a:r>
              <a:rPr>
                <a:solidFill>
                  <a:srgbClr val="94A3B8"/>
                </a:solidFill>
              </a:rPr>
              <a:t>Generates publication-ready PDF reports with satellite imagery, metrics, and disclaimers.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3977639"/>
            <a:ext cx="3328416" cy="214884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4206239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🚀 Mission Control UI Design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Space-Grade HUD: </a:t>
            </a:r>
            <a:r>
              <a:rPr>
                <a:solidFill>
                  <a:srgbClr val="94A3B8"/>
                </a:solidFill>
              </a:rPr>
              <a:t>Custom SpaceX/NASA flight workstation UI with tactical reticles and status tickers.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05 // MISSION SCENARIOS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OPERATIONAL USE CASES &amp; DOMAIN IMPACT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Proven utility across emergency response, agricultural sustainability, and urban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🌊 Flood &amp; Cyclone Inundation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Scenario: </a:t>
            </a:r>
            <a:r>
              <a:rPr>
                <a:solidFill>
                  <a:srgbClr val="94A3B8"/>
                </a:solidFill>
              </a:rPr>
              <a:t>Severe monsoon storm hits a coastal or delta urban center (e.g., Chennai, Houston).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AI Action: </a:t>
            </a:r>
            <a:r>
              <a:rPr>
                <a:solidFill>
                  <a:srgbClr val="94A3B8"/>
                </a:solidFill>
              </a:rPr>
              <a:t>Routes to Sentinel-1 SAR to penetrate cloud cover; calculates MNDWI difference.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Output: </a:t>
            </a:r>
            <a:r>
              <a:rPr>
                <a:solidFill>
                  <a:srgbClr val="94A3B8"/>
                </a:solidFill>
              </a:rPr>
              <a:t>Precise water expansion polygon, affected square kilometers, and critical infra proximity.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74520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🌾 Agricultural Crop Health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Scenario: </a:t>
            </a:r>
            <a:r>
              <a:rPr>
                <a:solidFill>
                  <a:srgbClr val="94A3B8"/>
                </a:solidFill>
              </a:rPr>
              <a:t>Monitoring drought onset, seasonal harvest cycles, or pest outbreaks.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AI Action: </a:t>
            </a:r>
            <a:r>
              <a:rPr>
                <a:solidFill>
                  <a:srgbClr val="94A3B8"/>
                </a:solidFill>
              </a:rPr>
              <a:t>Fetches Sentinel-2 L2A optical bands; computes NDVI vegetation vigor index.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Output: </a:t>
            </a:r>
            <a:r>
              <a:rPr>
                <a:solidFill>
                  <a:srgbClr val="94A3B8"/>
                </a:solidFill>
              </a:rPr>
              <a:t>Chlorophyll degradation percentage, stressed farm acreage, and irrigation advisories.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874520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🏙️ Urban Sprawl &amp; Coastal Shift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• Scenario: </a:t>
            </a:r>
            <a:r>
              <a:rPr>
                <a:solidFill>
                  <a:srgbClr val="94A3B8"/>
                </a:solidFill>
              </a:rPr>
              <a:t>Tracking rapid city expansion, shoreline erosion, or illegal construction.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• AI Action: </a:t>
            </a:r>
            <a:r>
              <a:rPr>
                <a:solidFill>
                  <a:srgbClr val="94A3B8"/>
                </a:solidFill>
              </a:rPr>
              <a:t>Analyzes multi-year bi-temporal passes using NDBI and morphological contours.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59E0B"/>
                </a:solidFill>
              </a:rPr>
              <a:t>• Output: </a:t>
            </a:r>
            <a:r>
              <a:rPr>
                <a:solidFill>
                  <a:srgbClr val="94A3B8"/>
                </a:solidFill>
              </a:rPr>
              <a:t>Built-up surface growth quantification and coastal setback compliance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06 // TECHNOLOGY &amp; DEPLOYMENT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PRODUCTION TECH STACK &amp; CLOUD INFRASTRUCTURE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Containerized, scalable, and deployed live across leading cloud networks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1830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⚙️ Full-Stack Technology Stack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Frontend: </a:t>
            </a:r>
            <a:r>
              <a:rPr>
                <a:solidFill>
                  <a:srgbClr val="94A3B8"/>
                </a:solidFill>
              </a:rPr>
              <a:t>React 19, Vite, Tailwind CSS, Lucide Icons, Leaflet GIS mapping.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Backend Engine: </a:t>
            </a:r>
            <a:r>
              <a:rPr>
                <a:solidFill>
                  <a:srgbClr val="94A3B8"/>
                </a:solidFill>
              </a:rPr>
              <a:t>FastAPI (Python 3.14), Pydantic v2, Uvicorn ASGI server.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Data &amp; Math: </a:t>
            </a:r>
            <a:r>
              <a:rPr>
                <a:solidFill>
                  <a:srgbClr val="94A3B8"/>
                </a:solidFill>
              </a:rPr>
              <a:t>NumPy, SciPy, Pillow (PIL), OpenCV, ReportLab PDF Engine.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Space APIs: </a:t>
            </a:r>
            <a:r>
              <a:rPr>
                <a:solidFill>
                  <a:srgbClr val="94A3B8"/>
                </a:solidFill>
              </a:rPr>
              <a:t>Copernicus Data Space Ecosystem (CDSE) STAC &amp; Process APIs.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Database: </a:t>
            </a:r>
            <a:r>
              <a:rPr>
                <a:solidFill>
                  <a:srgbClr val="94A3B8"/>
                </a:solidFill>
              </a:rPr>
              <a:t>SQLite with thread-safe connection pooling for mission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874520"/>
            <a:ext cx="471830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🌐 Cloud Deployment &amp; Live Links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Frontend Web Application: </a:t>
            </a:r>
            <a:r>
              <a:rPr>
                <a:solidFill>
                  <a:srgbClr val="94A3B8"/>
                </a:solidFill>
              </a:rPr>
              <a:t>Hosted on Vercel Edge Network:
https://terrascope-ai-webapplication.vercel.app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Backend Processing Engine: </a:t>
            </a:r>
            <a:r>
              <a:rPr>
                <a:solidFill>
                  <a:srgbClr val="94A3B8"/>
                </a:solidFill>
              </a:rPr>
              <a:t>Hosted on Render Cloud:
https://terrascope-ai-backend.onrender.com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Frontend GitHub Repository: </a:t>
            </a:r>
            <a:r>
              <a:rPr>
                <a:solidFill>
                  <a:srgbClr val="94A3B8"/>
                </a:solidFill>
              </a:rPr>
              <a:t>github.com/cibinjooel08-pixel/TERRASCOPE-AI-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Backend GitHub Repository: </a:t>
            </a:r>
            <a:r>
              <a:rPr>
                <a:solidFill>
                  <a:srgbClr val="94A3B8"/>
                </a:solidFill>
              </a:rPr>
              <a:t>github.com/cibinjooel08-pixel/TERRASCOPE-AI-BACKEND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Continuous Deployment: </a:t>
            </a:r>
            <a:r>
              <a:rPr>
                <a:solidFill>
                  <a:srgbClr val="94A3B8"/>
                </a:solidFill>
              </a:rPr>
              <a:t>Automatic Git push triggers instant cloud builds on commit.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07 // ROADMAP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FUTURE ENHANCEMENTS &amp; SCALABILITY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Extending multi-satellite intelligence to real-time automated planetary surveillance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🛰️ Phase 1: Multi-Constellation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ISRO Missions: </a:t>
            </a:r>
            <a:r>
              <a:rPr>
                <a:solidFill>
                  <a:srgbClr val="94A3B8"/>
                </a:solidFill>
              </a:rPr>
              <a:t>Integrate ISRO EOS/Cartosat sensors for specialized Indian subcontinent telemetry.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Commercial VHR: </a:t>
            </a:r>
            <a:r>
              <a:rPr>
                <a:solidFill>
                  <a:srgbClr val="94A3B8"/>
                </a:solidFill>
              </a:rPr>
              <a:t>Support sub-meter optical imagery from Planet Labs and Maxar satellites.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Thermal Sensors: </a:t>
            </a:r>
            <a:r>
              <a:rPr>
                <a:solidFill>
                  <a:srgbClr val="94A3B8"/>
                </a:solidFill>
              </a:rPr>
              <a:t>Incorporate Landsat-9 TIRS and Sentinel-3 SLSTR for wildfire and urban heat island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74520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Arial"/>
              </a:defRPr>
            </a:pPr>
            <a:r>
              <a:t>🤖 Phase 2: Deep Learning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Foundation Models: </a:t>
            </a:r>
            <a:r>
              <a:rPr>
                <a:solidFill>
                  <a:srgbClr val="94A3B8"/>
                </a:solidFill>
              </a:rPr>
              <a:t>Deploy Prithvi (NASA/IBM geospatial foundation model) for semantic segmentation.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Segment Anything (SAM): </a:t>
            </a:r>
            <a:r>
              <a:rPr>
                <a:solidFill>
                  <a:srgbClr val="94A3B8"/>
                </a:solidFill>
              </a:rPr>
              <a:t>Zero-shot polygon extraction for flooded buildings and road cutoffs.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A855F7"/>
                </a:solidFill>
              </a:rPr>
              <a:t>• Temporal Prediction: </a:t>
            </a:r>
            <a:r>
              <a:rPr>
                <a:solidFill>
                  <a:srgbClr val="94A3B8"/>
                </a:solidFill>
              </a:rPr>
              <a:t>LSTM / Transformer models forecasting water recession timelines.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874520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⚡ Phase 3: Automated Alerting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Orbital Watchdog: </a:t>
            </a:r>
            <a:r>
              <a:rPr>
                <a:solidFill>
                  <a:srgbClr val="94A3B8"/>
                </a:solidFill>
              </a:rPr>
              <a:t>Automated background cron monitoring vulnerable river basins daily.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Instant Broadcast: </a:t>
            </a:r>
            <a:r>
              <a:rPr>
                <a:solidFill>
                  <a:srgbClr val="94A3B8"/>
                </a:solidFill>
              </a:rPr>
              <a:t>SMS, Telegram, and Email emergency alerts to municipal disaster relief teams.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• API Marketplace: </a:t>
            </a:r>
            <a:r>
              <a:rPr>
                <a:solidFill>
                  <a:srgbClr val="94A3B8"/>
                </a:solidFill>
              </a:rPr>
              <a:t>REST API &amp; Webhooks for external GIS enterprise integrations.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08 // SUMMARY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 &amp; PROJECT ACHIEVEMENTS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Delivering private space agency telemetry power to everyday problem solvers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0D1620"/>
          </a:solidFill>
          <a:ln w="12700"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102714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🎯 Project Key Achievements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Democratic Earth Observation: </a:t>
            </a:r>
            <a:r>
              <a:rPr>
                <a:solidFill>
                  <a:srgbClr val="94A3B8"/>
                </a:solidFill>
              </a:rPr>
              <a:t>Eliminated GIS complexity by translating everyday English into automated satellite data pipelines.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Scientific Rigor: </a:t>
            </a:r>
            <a:r>
              <a:rPr>
                <a:solidFill>
                  <a:srgbClr val="94A3B8"/>
                </a:solidFill>
              </a:rPr>
              <a:t>True radiometric Copernicus band index algorithms (MNDWI, NDVI, SAR ratio) with calibrated thresholds.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High-Definition Evidence: </a:t>
            </a:r>
            <a:r>
              <a:rPr>
                <a:solidFill>
                  <a:srgbClr val="94A3B8"/>
                </a:solidFill>
              </a:rPr>
              <a:t>1024x1024 resolution with spatial edge sharpening, interactive comparison, and exportable PDF dossiers.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Robust Architecture: </a:t>
            </a:r>
            <a:r>
              <a:rPr>
                <a:solidFill>
                  <a:srgbClr val="94A3B8"/>
                </a:solidFill>
              </a:rPr>
              <a:t>Strict temporal bounds, resilient fallback simulators, and end-to-end production deployment on Vercel &amp; Render.</a:t>
            </a:r>
          </a:p>
          <a:p>
            <a:pPr>
              <a:spcBef>
                <a:spcPts val="7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00F0FF"/>
                </a:solidFill>
              </a:rPr>
              <a:t>• Ready for Demonstration: </a:t>
            </a:r>
            <a:r>
              <a:rPr>
                <a:solidFill>
                  <a:srgbClr val="94A3B8"/>
                </a:solidFill>
              </a:rPr>
              <a:t>Live and operational today for disaster relief teams, environmentalists, researchers, and government agencies.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